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73152" cy="6858000"/>
          </a:xfrm>
          <a:prstGeom prst="rect">
            <a:avLst/>
          </a:prstGeom>
          <a:solidFill>
            <a:srgbClr val="0F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326880" y="-1097280"/>
            <a:ext cx="4114800" cy="4114800"/>
          </a:xfrm>
          <a:prstGeom prst="ellipse">
            <a:avLst/>
          </a:prstGeom>
          <a:solidFill>
            <a:srgbClr val="142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0" y="4389120"/>
            <a:ext cx="2926080" cy="2926080"/>
          </a:xfrm>
          <a:prstGeom prst="ellipse">
            <a:avLst/>
          </a:prstGeom>
          <a:solidFill>
            <a:srgbClr val="0E7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6A17"/>
                </a:solidFill>
                <a:latin typeface="Calibri"/>
              </a:rPr>
              <a:t>DIGITAL GUJARAT 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Georgia"/>
              </a:rPr>
              <a:t>Five AI Use Cases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004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E8EEF5"/>
                </a:solidFill>
                <a:latin typeface="Calibri"/>
              </a:rPr>
              <a:t>Citizen discovery · Officer intelligence · Explainable decisions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023360"/>
            <a:ext cx="2011680" cy="73152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38912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8C4D4"/>
                </a:solidFill>
                <a:latin typeface="Calibri"/>
              </a:rPr>
              <a:t>Built in this repository: ai-intelligence-service · scheme-engine ·
citizen &amp; officer portals · bilingual / voice assistance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8521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E7C8B"/>
                </a:solidFill>
                <a:latin typeface="Calibri"/>
              </a:rPr>
              <a:t>Evaluator briefing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Georgia"/>
              </a:rPr>
              <a:t>Use-case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EF5"/>
                </a:solidFill>
                <a:latin typeface="Calibri"/>
              </a:rPr>
              <a:t>From kiosk conversation to officer risk — one AI stack, five journeys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828800"/>
            <a:ext cx="2148840" cy="3291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05840" y="2148840"/>
            <a:ext cx="868680" cy="868680"/>
          </a:xfrm>
          <a:prstGeom prst="ellipse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304288"/>
            <a:ext cx="868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3246120"/>
            <a:ext cx="1920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B1F3A"/>
                </a:solidFill>
                <a:latin typeface="Georgia"/>
              </a:rPr>
              <a:t>Kiosk / Voice
Eligibility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429768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75569"/>
                </a:solidFill>
                <a:latin typeface="Calibri"/>
              </a:rPr>
              <a:t>Local language → schemes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32918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E86A17"/>
                </a:solidFill>
                <a:latin typeface="Calibr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97479" y="1828800"/>
            <a:ext cx="2148840" cy="3291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337559" y="2148840"/>
            <a:ext cx="868680" cy="868680"/>
          </a:xfrm>
          <a:prstGeom prst="ellipse">
            <a:avLst/>
          </a:prstGeom>
          <a:solidFill>
            <a:srgbClr val="0E7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37559" y="2304288"/>
            <a:ext cx="868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07207" y="3246120"/>
            <a:ext cx="1920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B1F3A"/>
                </a:solidFill>
                <a:latin typeface="Georgia"/>
              </a:rPr>
              <a:t>Semantic
Service Search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07207" y="429768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75569"/>
                </a:solidFill>
                <a:latin typeface="Calibri"/>
              </a:rPr>
              <a:t>Natural language find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39" y="32918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E86A17"/>
                </a:solidFill>
                <a:latin typeface="Calibr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0" y="1828800"/>
            <a:ext cx="2148840" cy="3291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0" y="2148840"/>
            <a:ext cx="868680" cy="868680"/>
          </a:xfrm>
          <a:prstGeom prst="ellipse">
            <a:avLst/>
          </a:prstGeom>
          <a:solidFill>
            <a:srgbClr val="0F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0" y="2304288"/>
            <a:ext cx="868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38928" y="3246120"/>
            <a:ext cx="1920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B1F3A"/>
                </a:solidFill>
                <a:latin typeface="Georgia"/>
              </a:rPr>
              <a:t>Personalised
Recommendations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38928" y="429768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75569"/>
                </a:solidFill>
                <a:latin typeface="Calibri"/>
              </a:rPr>
              <a:t>Ranked apply-now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2918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E86A17"/>
                </a:solidFill>
                <a:latin typeface="Calibri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60919" y="1828800"/>
            <a:ext cx="2148840" cy="3291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000999" y="2148840"/>
            <a:ext cx="868680" cy="868680"/>
          </a:xfrm>
          <a:prstGeom prst="ellipse">
            <a:avLst/>
          </a:prstGeom>
          <a:solidFill>
            <a:srgbClr val="142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00999" y="2304288"/>
            <a:ext cx="868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70647" y="3246120"/>
            <a:ext cx="1920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B1F3A"/>
                </a:solidFill>
                <a:latin typeface="Georgia"/>
              </a:rPr>
              <a:t>Predictive
SLA Risk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70647" y="429768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75569"/>
                </a:solidFill>
                <a:latin typeface="Calibri"/>
              </a:rPr>
              <a:t>Officer prioritisation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79" y="32918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E86A17"/>
                </a:solidFill>
                <a:latin typeface="Calibri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92640" y="1828800"/>
            <a:ext cx="2148840" cy="3291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332720" y="2148840"/>
            <a:ext cx="868680" cy="868680"/>
          </a:xfrm>
          <a:prstGeom prst="ellipse">
            <a:avLst/>
          </a:prstGeom>
          <a:solidFill>
            <a:srgbClr val="8B3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332720" y="2304288"/>
            <a:ext cx="868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02368" y="3246120"/>
            <a:ext cx="1920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B1F3A"/>
                </a:solidFill>
                <a:latin typeface="Georgia"/>
              </a:rPr>
              <a:t>Scheme Overlap
&amp; Fraud Briefs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02368" y="429768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75569"/>
                </a:solidFill>
                <a:latin typeface="Calibri"/>
              </a:rPr>
              <a:t>Explainable review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65760" y="5394960"/>
            <a:ext cx="1143000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4360" y="55321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B1F3A"/>
                </a:solidFill>
                <a:latin typeface="Calibri"/>
              </a:rPr>
              <a:t>Design principle:  Rules &amp; structured data decide eligibility.  AI ranks, explains, listens, and alerts — never silently awards benefits.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660196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Digital Gujarat 2.0  ·  Responsible AI for Welfare Delivery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0" y="660196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2 /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37160" cy="105156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6A17"/>
                </a:solidFill>
                <a:latin typeface="Calibri"/>
              </a:rPr>
              <a:t>USE CASE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Georgia"/>
              </a:rPr>
              <a:t>Kiosk / Local-Language Eligibility Discovery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371600"/>
            <a:ext cx="4023360" cy="4846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4023360" cy="118872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554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CONVERSATIONAL ACCESS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9202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Georgia"/>
              </a:rPr>
              <a:t>Village kiosk or mobile citizen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2880360"/>
            <a:ext cx="502920" cy="502920"/>
          </a:xfrm>
          <a:prstGeom prst="ellipse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97180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95351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Calibri"/>
              </a:rPr>
              <a:t>Citizen / officer input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38328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475569"/>
                </a:solidFill>
                <a:latin typeface="Calibri"/>
              </a:rPr>
              <a:t>↓</a:t>
            </a:r>
          </a:p>
        </p:txBody>
      </p:sp>
      <p:sp>
        <p:nvSpPr>
          <p:cNvPr id="15" name="Oval 14"/>
          <p:cNvSpPr/>
          <p:nvPr/>
        </p:nvSpPr>
        <p:spPr>
          <a:xfrm>
            <a:off x="685800" y="3840480"/>
            <a:ext cx="502920" cy="502920"/>
          </a:xfrm>
          <a:prstGeom prst="ellipse">
            <a:avLst/>
          </a:prstGeom>
          <a:solidFill>
            <a:srgbClr val="0E7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93192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91363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Calibri"/>
              </a:rPr>
              <a:t>AI layer acts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34340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475569"/>
                </a:solidFill>
                <a:latin typeface="Calibri"/>
              </a:rPr>
              <a:t>↓</a:t>
            </a:r>
          </a:p>
        </p:txBody>
      </p:sp>
      <p:sp>
        <p:nvSpPr>
          <p:cNvPr id="19" name="Oval 18"/>
          <p:cNvSpPr/>
          <p:nvPr/>
        </p:nvSpPr>
        <p:spPr>
          <a:xfrm>
            <a:off x="685800" y="4800600"/>
            <a:ext cx="502920" cy="502920"/>
          </a:xfrm>
          <a:prstGeom prst="ellipse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89204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87375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Calibri"/>
              </a:rPr>
              <a:t>Governed result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63440" y="1371600"/>
            <a:ext cx="3474720" cy="2240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663440" y="1371600"/>
            <a:ext cx="109728" cy="224028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37760" y="15544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Calibri"/>
              </a:rPr>
              <a:t>SCENARIO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0" y="196596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Citizen speaks or types in Gujarati/English and shares a few profile facts linked to family registry.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21040" y="1371600"/>
            <a:ext cx="3474720" cy="2240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21040" y="1371600"/>
            <a:ext cx="109728" cy="2240280"/>
          </a:xfrm>
          <a:prstGeom prst="rect">
            <a:avLst/>
          </a:prstGeom>
          <a:solidFill>
            <a:srgbClr val="0E7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95360" y="15544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E7C8B"/>
                </a:solidFill>
                <a:latin typeface="Calibri"/>
              </a:rPr>
              <a:t>WHAT AI DOES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0" y="196596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Speech STT/TTS + recommendation ranking over identified schemes; short “why you qualify” reasons.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663440" y="3794760"/>
            <a:ext cx="3474720" cy="2240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663440" y="3794760"/>
            <a:ext cx="109728" cy="2240280"/>
          </a:xfrm>
          <a:prstGeom prst="rect">
            <a:avLst/>
          </a:prstGeom>
          <a:solidFill>
            <a:srgbClr val="0F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937760" y="39776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7A4A"/>
                </a:solidFill>
                <a:latin typeface="Calibri"/>
              </a:rPr>
              <a:t>OUTCOME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37760" y="438912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Clear list of eligible schemes — no form jargon required to start discovery.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321040" y="3794760"/>
            <a:ext cx="3474720" cy="2240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321040" y="3794760"/>
            <a:ext cx="109728" cy="224028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95360" y="39776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86A17"/>
                </a:solidFill>
                <a:latin typeface="Calibri"/>
              </a:rPr>
              <a:t>IN THIS REPOSITORY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95360" y="438912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ai-intelligence-service /v1/speech + /v1/recommendations · citizen portal &amp; mobile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5760" y="660196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Digital Gujarat 2.0  ·  Responsible AI for Welfare Delivery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660196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3 /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37160" cy="1051560"/>
          </a:xfrm>
          <a:prstGeom prst="rect">
            <a:avLst/>
          </a:prstGeom>
          <a:solidFill>
            <a:srgbClr val="0E7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E7C8B"/>
                </a:solidFill>
                <a:latin typeface="Calibri"/>
              </a:rPr>
              <a:t>USE CASE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Georgia"/>
              </a:rPr>
              <a:t>Semantic Service Search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371600"/>
            <a:ext cx="4023360" cy="4846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4023360" cy="1188720"/>
          </a:xfrm>
          <a:prstGeom prst="rect">
            <a:avLst/>
          </a:prstGeom>
          <a:solidFill>
            <a:srgbClr val="0E7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554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SEMANTIC RETRIEVAL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9202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Georgia"/>
              </a:rPr>
              <a:t>Citizen who doesn’t know official names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2880360"/>
            <a:ext cx="502920" cy="502920"/>
          </a:xfrm>
          <a:prstGeom prst="ellipse">
            <a:avLst/>
          </a:prstGeom>
          <a:solidFill>
            <a:srgbClr val="0E7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97180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95351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Calibri"/>
              </a:rPr>
              <a:t>Citizen / officer input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38328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475569"/>
                </a:solidFill>
                <a:latin typeface="Calibri"/>
              </a:rPr>
              <a:t>↓</a:t>
            </a:r>
          </a:p>
        </p:txBody>
      </p:sp>
      <p:sp>
        <p:nvSpPr>
          <p:cNvPr id="15" name="Oval 14"/>
          <p:cNvSpPr/>
          <p:nvPr/>
        </p:nvSpPr>
        <p:spPr>
          <a:xfrm>
            <a:off x="685800" y="3840480"/>
            <a:ext cx="502920" cy="502920"/>
          </a:xfrm>
          <a:prstGeom prst="ellipse">
            <a:avLst/>
          </a:prstGeom>
          <a:solidFill>
            <a:srgbClr val="0E7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93192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91363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Calibri"/>
              </a:rPr>
              <a:t>AI layer acts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34340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475569"/>
                </a:solidFill>
                <a:latin typeface="Calibri"/>
              </a:rPr>
              <a:t>↓</a:t>
            </a:r>
          </a:p>
        </p:txBody>
      </p:sp>
      <p:sp>
        <p:nvSpPr>
          <p:cNvPr id="19" name="Oval 18"/>
          <p:cNvSpPr/>
          <p:nvPr/>
        </p:nvSpPr>
        <p:spPr>
          <a:xfrm>
            <a:off x="685800" y="4800600"/>
            <a:ext cx="502920" cy="502920"/>
          </a:xfrm>
          <a:prstGeom prst="ellipse">
            <a:avLst/>
          </a:prstGeom>
          <a:solidFill>
            <a:srgbClr val="0E7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89204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87375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Calibri"/>
              </a:rPr>
              <a:t>Governed result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63440" y="1371600"/>
            <a:ext cx="3474720" cy="2240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663440" y="1371600"/>
            <a:ext cx="109728" cy="224028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37760" y="15544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Calibri"/>
              </a:rPr>
              <a:t>SCENARIO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0" y="196596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Searches in natural language or Gujarati — typos and no keyword overlap still allowed.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21040" y="1371600"/>
            <a:ext cx="3474720" cy="2240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21040" y="1371600"/>
            <a:ext cx="109728" cy="2240280"/>
          </a:xfrm>
          <a:prstGeom prst="rect">
            <a:avLst/>
          </a:prstGeom>
          <a:solidFill>
            <a:srgbClr val="0E7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95360" y="15544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E7C8B"/>
                </a:solidFill>
                <a:latin typeface="Calibri"/>
              </a:rPr>
              <a:t>WHAT AI DOES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0" y="196596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Catalogue embeddings in PostgreSQL + pgvector; optional Gemma rerank for relevance.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663440" y="3794760"/>
            <a:ext cx="3474720" cy="2240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663440" y="3794760"/>
            <a:ext cx="109728" cy="2240280"/>
          </a:xfrm>
          <a:prstGeom prst="rect">
            <a:avLst/>
          </a:prstGeom>
          <a:solidFill>
            <a:srgbClr val="0F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937760" y="39776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7A4A"/>
                </a:solidFill>
                <a:latin typeface="Calibri"/>
              </a:rPr>
              <a:t>OUTCOME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37760" y="438912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Right service/scheme surfaces without memorising scheme titles.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321040" y="3794760"/>
            <a:ext cx="3474720" cy="2240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321040" y="3794760"/>
            <a:ext cx="109728" cy="224028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95360" y="39776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86A17"/>
                </a:solidFill>
                <a:latin typeface="Calibri"/>
              </a:rPr>
              <a:t>IN THIS REPOSITORY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95360" y="438912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AI-1 · /v1/search · sentence-transformers · catalogue vectors (not open RAG corpus)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5760" y="660196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Digital Gujarat 2.0  ·  Responsible AI for Welfare Delivery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660196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4 /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37160" cy="1051560"/>
          </a:xfrm>
          <a:prstGeom prst="rect">
            <a:avLst/>
          </a:prstGeom>
          <a:solidFill>
            <a:srgbClr val="0F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7A4A"/>
                </a:solidFill>
                <a:latin typeface="Calibri"/>
              </a:rPr>
              <a:t>USE CASE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Georgia"/>
              </a:rPr>
              <a:t>Personalised Scheme Recommendations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371600"/>
            <a:ext cx="4023360" cy="4846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4023360" cy="1188720"/>
          </a:xfrm>
          <a:prstGeom prst="rect">
            <a:avLst/>
          </a:prstGeom>
          <a:solidFill>
            <a:srgbClr val="0F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554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PERSONALISED RANKING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9202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Georgia"/>
              </a:rPr>
              <a:t>Logged-in citizen (Home / My Family)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2880360"/>
            <a:ext cx="502920" cy="502920"/>
          </a:xfrm>
          <a:prstGeom prst="ellipse">
            <a:avLst/>
          </a:prstGeom>
          <a:solidFill>
            <a:srgbClr val="0F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97180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95351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Calibri"/>
              </a:rPr>
              <a:t>Citizen / officer input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38328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475569"/>
                </a:solidFill>
                <a:latin typeface="Calibri"/>
              </a:rPr>
              <a:t>↓</a:t>
            </a:r>
          </a:p>
        </p:txBody>
      </p:sp>
      <p:sp>
        <p:nvSpPr>
          <p:cNvPr id="15" name="Oval 14"/>
          <p:cNvSpPr/>
          <p:nvPr/>
        </p:nvSpPr>
        <p:spPr>
          <a:xfrm>
            <a:off x="685800" y="3840480"/>
            <a:ext cx="502920" cy="502920"/>
          </a:xfrm>
          <a:prstGeom prst="ellipse">
            <a:avLst/>
          </a:prstGeom>
          <a:solidFill>
            <a:srgbClr val="0E7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93192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91363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Calibri"/>
              </a:rPr>
              <a:t>AI layer acts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34340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475569"/>
                </a:solidFill>
                <a:latin typeface="Calibri"/>
              </a:rPr>
              <a:t>↓</a:t>
            </a:r>
          </a:p>
        </p:txBody>
      </p:sp>
      <p:sp>
        <p:nvSpPr>
          <p:cNvPr id="19" name="Oval 18"/>
          <p:cNvSpPr/>
          <p:nvPr/>
        </p:nvSpPr>
        <p:spPr>
          <a:xfrm>
            <a:off x="685800" y="4800600"/>
            <a:ext cx="502920" cy="502920"/>
          </a:xfrm>
          <a:prstGeom prst="ellipse">
            <a:avLst/>
          </a:prstGeom>
          <a:solidFill>
            <a:srgbClr val="0F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89204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87375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Calibri"/>
              </a:rPr>
              <a:t>Governed result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63440" y="1371600"/>
            <a:ext cx="3474720" cy="2240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663440" y="1371600"/>
            <a:ext cx="109728" cy="224028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37760" y="15544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Calibri"/>
              </a:rPr>
              <a:t>SCENARIO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0" y="196596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Family registry + IDENTIFIED enrollments already known; citizen opens portal or app.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21040" y="1371600"/>
            <a:ext cx="3474720" cy="2240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21040" y="1371600"/>
            <a:ext cx="109728" cy="2240280"/>
          </a:xfrm>
          <a:prstGeom prst="rect">
            <a:avLst/>
          </a:prstGeom>
          <a:solidFill>
            <a:srgbClr val="0E7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95360" y="15544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E7C8B"/>
                </a:solidFill>
                <a:latin typeface="Calibri"/>
              </a:rPr>
              <a:t>WHAT AI DOES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0" y="196596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Scheme-engine rules + LightGBM ranker + Gemma explanation text.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663440" y="3794760"/>
            <a:ext cx="3474720" cy="2240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663440" y="3794760"/>
            <a:ext cx="109728" cy="2240280"/>
          </a:xfrm>
          <a:prstGeom prst="rect">
            <a:avLst/>
          </a:prstGeom>
          <a:solidFill>
            <a:srgbClr val="0F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937760" y="39776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7A4A"/>
                </a:solidFill>
                <a:latin typeface="Calibri"/>
              </a:rPr>
              <a:t>OUTCOME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37760" y="438912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Ranked “Eligible — Apply now” cards with human-readable reasons.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321040" y="3794760"/>
            <a:ext cx="3474720" cy="2240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321040" y="3794760"/>
            <a:ext cx="109728" cy="224028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95360" y="39776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86A17"/>
                </a:solidFill>
                <a:latin typeface="Calibri"/>
              </a:rPr>
              <a:t>IN THIS REPOSITORY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95360" y="438912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AI-2 · /v1/recommendations · SchemeRecommendations UI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5760" y="660196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Digital Gujarat 2.0  ·  Responsible AI for Welfare Delivery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660196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5 /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37160" cy="1051560"/>
          </a:xfrm>
          <a:prstGeom prst="rect">
            <a:avLst/>
          </a:prstGeom>
          <a:solidFill>
            <a:srgbClr val="142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2F52"/>
                </a:solidFill>
                <a:latin typeface="Calibri"/>
              </a:rPr>
              <a:t>USE CASE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Georgia"/>
              </a:rPr>
              <a:t>Predictive SLA Breach Risk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371600"/>
            <a:ext cx="4023360" cy="4846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4023360" cy="1188720"/>
          </a:xfrm>
          <a:prstGeom prst="rect">
            <a:avLst/>
          </a:prstGeom>
          <a:solidFill>
            <a:srgbClr val="142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554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PREDICTIVE OPERATIONS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9202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Georgia"/>
              </a:rPr>
              <a:t>Talati / department officer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2880360"/>
            <a:ext cx="502920" cy="502920"/>
          </a:xfrm>
          <a:prstGeom prst="ellipse">
            <a:avLst/>
          </a:prstGeom>
          <a:solidFill>
            <a:srgbClr val="142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97180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95351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Calibri"/>
              </a:rPr>
              <a:t>Citizen / officer input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38328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475569"/>
                </a:solidFill>
                <a:latin typeface="Calibri"/>
              </a:rPr>
              <a:t>↓</a:t>
            </a:r>
          </a:p>
        </p:txBody>
      </p:sp>
      <p:sp>
        <p:nvSpPr>
          <p:cNvPr id="15" name="Oval 14"/>
          <p:cNvSpPr/>
          <p:nvPr/>
        </p:nvSpPr>
        <p:spPr>
          <a:xfrm>
            <a:off x="685800" y="3840480"/>
            <a:ext cx="502920" cy="502920"/>
          </a:xfrm>
          <a:prstGeom prst="ellipse">
            <a:avLst/>
          </a:prstGeom>
          <a:solidFill>
            <a:srgbClr val="0E7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93192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91363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Calibri"/>
              </a:rPr>
              <a:t>AI layer acts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34340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475569"/>
                </a:solidFill>
                <a:latin typeface="Calibri"/>
              </a:rPr>
              <a:t>↓</a:t>
            </a:r>
          </a:p>
        </p:txBody>
      </p:sp>
      <p:sp>
        <p:nvSpPr>
          <p:cNvPr id="19" name="Oval 18"/>
          <p:cNvSpPr/>
          <p:nvPr/>
        </p:nvSpPr>
        <p:spPr>
          <a:xfrm>
            <a:off x="685800" y="4800600"/>
            <a:ext cx="502920" cy="502920"/>
          </a:xfrm>
          <a:prstGeom prst="ellipse">
            <a:avLst/>
          </a:prstGeom>
          <a:solidFill>
            <a:srgbClr val="142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89204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87375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Calibri"/>
              </a:rPr>
              <a:t>Governed result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63440" y="1371600"/>
            <a:ext cx="3474720" cy="2240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663440" y="1371600"/>
            <a:ext cx="109728" cy="224028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37760" y="15544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Calibri"/>
              </a:rPr>
              <a:t>SCENARIO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0" y="196596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Busy task queue; need to know which applications will breach SLA soon.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21040" y="1371600"/>
            <a:ext cx="3474720" cy="2240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21040" y="1371600"/>
            <a:ext cx="109728" cy="2240280"/>
          </a:xfrm>
          <a:prstGeom prst="rect">
            <a:avLst/>
          </a:prstGeom>
          <a:solidFill>
            <a:srgbClr val="0E7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95360" y="15544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E7C8B"/>
                </a:solidFill>
                <a:latin typeface="Calibri"/>
              </a:rPr>
              <a:t>WHAT AI DOES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0" y="196596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LightGBM classifier on workflow features; risk signals for prioritisation.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663440" y="3794760"/>
            <a:ext cx="3474720" cy="2240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663440" y="3794760"/>
            <a:ext cx="109728" cy="2240280"/>
          </a:xfrm>
          <a:prstGeom prst="rect">
            <a:avLst/>
          </a:prstGeom>
          <a:solidFill>
            <a:srgbClr val="0F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937760" y="39776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7A4A"/>
                </a:solidFill>
                <a:latin typeface="Calibri"/>
              </a:rPr>
              <a:t>OUTCOME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37760" y="438912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Officers act before timers fire — fewer citizen escalations.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321040" y="3794760"/>
            <a:ext cx="3474720" cy="2240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321040" y="3794760"/>
            <a:ext cx="109728" cy="224028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95360" y="39776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86A17"/>
                </a:solidFill>
                <a:latin typeface="Calibri"/>
              </a:rPr>
              <a:t>IN THIS REPOSITORY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95360" y="438912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AI-4 · /v1/sla/predict · Task Queue &amp; Analytics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5760" y="660196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Digital Gujarat 2.0  ·  Responsible AI for Welfare Delivery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660196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6 /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37160" cy="1051560"/>
          </a:xfrm>
          <a:prstGeom prst="rect">
            <a:avLst/>
          </a:prstGeom>
          <a:solidFill>
            <a:srgbClr val="8B3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3A2A"/>
                </a:solidFill>
                <a:latin typeface="Calibri"/>
              </a:rPr>
              <a:t>USE CASE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Georgia"/>
              </a:rPr>
              <a:t>Scheme Overlapping &amp; Fraud Intelligence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371600"/>
            <a:ext cx="4023360" cy="4846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4023360" cy="1188720"/>
          </a:xfrm>
          <a:prstGeom prst="rect">
            <a:avLst/>
          </a:prstGeom>
          <a:solidFill>
            <a:srgbClr val="8B3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554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GOVERNANCE &amp; XAI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9202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Georgia"/>
              </a:rPr>
              <a:t>Scheme dept / senior officer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2880360"/>
            <a:ext cx="502920" cy="502920"/>
          </a:xfrm>
          <a:prstGeom prst="ellipse">
            <a:avLst/>
          </a:prstGeom>
          <a:solidFill>
            <a:srgbClr val="8B3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97180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95351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Calibri"/>
              </a:rPr>
              <a:t>Citizen / officer input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38328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475569"/>
                </a:solidFill>
                <a:latin typeface="Calibri"/>
              </a:rPr>
              <a:t>↓</a:t>
            </a:r>
          </a:p>
        </p:txBody>
      </p:sp>
      <p:sp>
        <p:nvSpPr>
          <p:cNvPr id="15" name="Oval 14"/>
          <p:cNvSpPr/>
          <p:nvPr/>
        </p:nvSpPr>
        <p:spPr>
          <a:xfrm>
            <a:off x="685800" y="3840480"/>
            <a:ext cx="502920" cy="502920"/>
          </a:xfrm>
          <a:prstGeom prst="ellipse">
            <a:avLst/>
          </a:prstGeom>
          <a:solidFill>
            <a:srgbClr val="0E7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93192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91363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Calibri"/>
              </a:rPr>
              <a:t>AI layer acts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34340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475569"/>
                </a:solidFill>
                <a:latin typeface="Calibri"/>
              </a:rPr>
              <a:t>↓</a:t>
            </a:r>
          </a:p>
        </p:txBody>
      </p:sp>
      <p:sp>
        <p:nvSpPr>
          <p:cNvPr id="19" name="Oval 18"/>
          <p:cNvSpPr/>
          <p:nvPr/>
        </p:nvSpPr>
        <p:spPr>
          <a:xfrm>
            <a:off x="685800" y="4800600"/>
            <a:ext cx="502920" cy="502920"/>
          </a:xfrm>
          <a:prstGeom prst="ellipse">
            <a:avLst/>
          </a:prstGeom>
          <a:solidFill>
            <a:srgbClr val="8B3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89204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87375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Calibri"/>
              </a:rPr>
              <a:t>Governed result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63440" y="1371600"/>
            <a:ext cx="3474720" cy="2240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663440" y="1371600"/>
            <a:ext cx="109728" cy="224028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37760" y="15544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Calibri"/>
              </a:rPr>
              <a:t>SCENARIO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0" y="196596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Review flagged families: multi-scheme overlap, income cliff, age anomaly, mismatch.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21040" y="1371600"/>
            <a:ext cx="3474720" cy="2240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21040" y="1371600"/>
            <a:ext cx="109728" cy="2240280"/>
          </a:xfrm>
          <a:prstGeom prst="rect">
            <a:avLst/>
          </a:prstGeom>
          <a:solidFill>
            <a:srgbClr val="0E7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95360" y="15544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E7C8B"/>
                </a:solidFill>
                <a:latin typeface="Calibri"/>
              </a:rPr>
              <a:t>WHAT AI DOES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0" y="196596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Rule-based detection in scheme-engine + AI-assisted narrative brief for the officer.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663440" y="3794760"/>
            <a:ext cx="3474720" cy="2240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663440" y="3794760"/>
            <a:ext cx="109728" cy="2240280"/>
          </a:xfrm>
          <a:prstGeom prst="rect">
            <a:avLst/>
          </a:prstGeom>
          <a:solidFill>
            <a:srgbClr val="0F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937760" y="39776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7A4A"/>
                </a:solidFill>
                <a:latin typeface="Calibri"/>
              </a:rPr>
              <a:t>OUTCOME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37760" y="438912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Faster, explainable review — AI briefs; humans decide.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321040" y="3794760"/>
            <a:ext cx="3474720" cy="2240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321040" y="3794760"/>
            <a:ext cx="109728" cy="224028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95360" y="39776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86A17"/>
                </a:solidFill>
                <a:latin typeface="Calibri"/>
              </a:rPr>
              <a:t>IN THIS REPOSITORY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95360" y="438912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Scheme Overlapping screen · fraudAI briefs · /v1/explain/beneficiary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5760" y="660196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Digital Gujarat 2.0  ·  Responsible AI for Welfare Delivery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660196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7 /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Georgia"/>
              </a:rPr>
              <a:t>How the pieces fit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EF5"/>
                </a:solidFill>
                <a:latin typeface="Calibri"/>
              </a:rPr>
              <a:t>Channels above · AI in the middle · systems of record below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1124712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182880" cy="123444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1691640"/>
            <a:ext cx="594360" cy="594360"/>
          </a:xfrm>
          <a:prstGeom prst="ellipse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10512"/>
            <a:ext cx="594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1600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Georgia"/>
              </a:rPr>
              <a:t>Channels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01168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</a:rPr>
              <a:t>Citizen portal · Officer portal · Mobile · Kiosk / voice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788920"/>
            <a:ext cx="1124712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788920"/>
            <a:ext cx="182880" cy="1234440"/>
          </a:xfrm>
          <a:prstGeom prst="rect">
            <a:avLst/>
          </a:prstGeom>
          <a:solidFill>
            <a:srgbClr val="0E7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14400" y="3108960"/>
            <a:ext cx="594360" cy="594360"/>
          </a:xfrm>
          <a:prstGeom prst="ellipse">
            <a:avLst/>
          </a:prstGeom>
          <a:solidFill>
            <a:srgbClr val="0E7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227832"/>
            <a:ext cx="594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3017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Georgia"/>
              </a:rPr>
              <a:t>AI layer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342900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</a:rPr>
              <a:t>Search · Recommend · SLA · Speech · Explain  (ai-intelligence-service + Gemma/Ollama)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206240"/>
            <a:ext cx="1124712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206240"/>
            <a:ext cx="182880" cy="1234440"/>
          </a:xfrm>
          <a:prstGeom prst="rect">
            <a:avLst/>
          </a:prstGeom>
          <a:solidFill>
            <a:srgbClr val="0F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14400" y="4526280"/>
            <a:ext cx="594360" cy="594360"/>
          </a:xfrm>
          <a:prstGeom prst="ellipse">
            <a:avLst/>
          </a:prstGeom>
          <a:solidFill>
            <a:srgbClr val="0F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645152"/>
            <a:ext cx="594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7360" y="4434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Georgia"/>
              </a:rPr>
              <a:t>Decision &amp; 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484632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</a:rPr>
              <a:t>Scheme-engine rules · Family registry · Workflows · Postgres + pgvector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760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Not used as system of record: open RAG document store. Catalogue embeddings only where semantic find is needed.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660196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Digital Gujarat 2.0  ·  Responsible AI for Welfare Delivery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60196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8 /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73152" cy="6858000"/>
          </a:xfrm>
          <a:prstGeom prst="rect">
            <a:avLst/>
          </a:prstGeom>
          <a:solidFill>
            <a:srgbClr val="0F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6A17"/>
                </a:solidFill>
                <a:latin typeface="Calibri"/>
              </a:rPr>
              <a:t>Takeaway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Georgia"/>
              </a:rPr>
              <a:t>Listen and discover in local language.
Rank and explain with models.
Decide with auditable rules.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114800"/>
            <a:ext cx="1828800" cy="73152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4805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8EEF5"/>
                </a:solidFill>
                <a:latin typeface="Calibri"/>
              </a:rPr>
              <a:t>Digital Gujarat 2.0 — Responsible AI for welfare delivery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436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E7C8B"/>
                </a:solidFill>
                <a:latin typeface="Calibri"/>
              </a:rPr>
              <a:t>Questions welcome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